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640080"/>
            <a:ext cx="9997135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944849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1300" b="1">
                <a:solidFill>
                  <a:srgbClr val="D97706"/>
                </a:solidFill>
                <a:latin typeface="Consolas"/>
              </a:rPr>
              <a:t>● MASTER OF COMPUTER APPLICATIONS  |  SEMINAR PRESENTATION ●</a:t>
            </a:r>
          </a:p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2563EB"/>
                </a:solidFill>
                <a:latin typeface="Outfit"/>
              </a:rPr>
              <a:t>Elliptic Curve Arithmetic</a:t>
            </a:r>
          </a:p>
          <a:p>
            <a:pPr algn="ctr">
              <a:spcAft>
                <a:spcPts val="1200"/>
              </a:spcAft>
            </a:pPr>
            <a:r>
              <a:rPr sz="1900" b="1">
                <a:solidFill>
                  <a:srgbClr val="0F172A"/>
                </a:solidFill>
                <a:latin typeface="Segoe UI"/>
              </a:rPr>
              <a:t>Mathematical Foundations, Group Laws, and Finite Field Cryptography</a:t>
            </a:r>
          </a:p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Network Security  |  Semester 3  |  Reference: William Stallings, Chapter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4297680"/>
            <a:ext cx="6339535" cy="1508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4297680"/>
            <a:ext cx="109728" cy="1508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434840"/>
            <a:ext cx="58521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Consolas"/>
              </a:rPr>
              <a:t>PRESENTED BY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Outfit"/>
              </a:rPr>
              <a:t>Guru Prakash A</a:t>
            </a:r>
          </a:p>
          <a:p>
            <a:r>
              <a:rPr sz="1400" b="1">
                <a:solidFill>
                  <a:srgbClr val="7C3AED"/>
                </a:solidFill>
                <a:latin typeface="Segoe UI"/>
              </a:rPr>
              <a:t>Class: II - MCA   |   Register No: 25322011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02  </a:t>
            </a:r>
            <a:r>
              <a:rPr sz="2400" b="1">
                <a:solidFill>
                  <a:srgbClr val="0F172A"/>
                </a:solidFill>
                <a:latin typeface="Outfit"/>
              </a:rPr>
              <a:t>Agenda &amp; Overview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Following William Stallings' Cryptography and Network Security (Chapter 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5257800" cy="22677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53312"/>
            <a:ext cx="109728" cy="22677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563EB"/>
                </a:solidFill>
                <a:latin typeface="Outfit"/>
              </a:rPr>
              <a:t>📘 1. Foundations &amp; Concepts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Motivation: The RSA Scaling Problem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What is an Elliptic Curve? (Smooth Cubic Plane)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Why are Elliptic Curves Used in Cryptography?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Abelian Group Axioms (A1 to A5)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53312"/>
            <a:ext cx="5257800" cy="22677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353312"/>
            <a:ext cx="109728" cy="22677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36192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D97706"/>
                </a:solidFill>
                <a:latin typeface="Outfit"/>
              </a:rPr>
              <a:t>📐 2. Real Curves &amp; Geometric Rules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Elliptic Curves over Real Numbers R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The 5 Fundamental Geometric Addition Rules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Point Doubling via Tangent Line Construction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Algebraic Addition &amp; Doubling Formulas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03904"/>
            <a:ext cx="5257800" cy="22677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803904"/>
            <a:ext cx="109728" cy="22677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86784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7C3AED"/>
                </a:solidFill>
                <a:latin typeface="Outfit"/>
              </a:rPr>
              <a:t>🔢 3. Prime Curves over Z_p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Two Families: Prime vs. Binary Curves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Curves over Z_p, Hasse's Theorem &amp; Condition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4 Formal Addition Rules &amp; Slope Formulas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Worked Example 1: Point Addition (P+Q)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Worked Example 2: Point Doubling (2P)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03904"/>
            <a:ext cx="5257800" cy="22677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3803904"/>
            <a:ext cx="109728" cy="226771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86784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59669"/>
                </a:solidFill>
                <a:latin typeface="Outfit"/>
              </a:rPr>
              <a:t>💻 4. Binary Curves &amp; Scalability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Curves over Binary Fields GF(2^m)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4 Addition Rules &amp; Slope Formulas in GF(2^m)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Master Comparison: Z_p vs. GF(2^m)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Segoe UI"/>
              </a:rPr>
              <a:t>•  Scalar Multiplication &amp; Double-and-Add Algorithm</a:t>
            </a:r>
          </a:p>
        </p:txBody>
      </p:sp>
    </p:spTree>
  </p:cSld>
  <p:clrMapOvr>
    <a:masterClrMapping/>
  </p:clrMapOvr>
  <p:transition spd="fast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03  </a:t>
            </a:r>
            <a:r>
              <a:rPr sz="2400" b="1">
                <a:solidFill>
                  <a:srgbClr val="0F172A"/>
                </a:solidFill>
                <a:latin typeface="Outfit"/>
              </a:rPr>
              <a:t>Motivation — Why ECC?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The need for scalable, efficient public-key cryptography (Stallings Sec 10.3)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49377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47091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Outfit"/>
              </a:rPr>
              <a:t>The RSA Scaling Problem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Exploding Key Lengths: </a:t>
            </a:r>
            <a:r>
              <a:rPr sz="1200">
                <a:solidFill>
                  <a:srgbClr val="334155"/>
                </a:solidFill>
                <a:latin typeface="Segoe UI"/>
              </a:rPr>
              <a:t>RSA keys must grow exponentially to maintain security against factorization attacks (2048 to 15360 bits).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Server Bottlenecks: </a:t>
            </a:r>
            <a:r>
              <a:rPr sz="1200">
                <a:solidFill>
                  <a:srgbClr val="334155"/>
                </a:solidFill>
                <a:latin typeface="Segoe UI"/>
              </a:rPr>
              <a:t>Massive computational latency on high-volume cloud servers handling concurrent SSL/TLS handshakes.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Constrained Environments: </a:t>
            </a:r>
            <a:r>
              <a:rPr sz="1200">
                <a:solidFill>
                  <a:srgbClr val="334155"/>
                </a:solidFill>
                <a:latin typeface="Segoe UI"/>
              </a:rPr>
              <a:t>Severe battery drain and memory starvation on mobile phones, smart cards, and IoT embedded devices.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William Stallings' Assessment: </a:t>
            </a:r>
            <a:r>
              <a:rPr sz="1200">
                <a:solidFill>
                  <a:srgbClr val="334155"/>
                </a:solidFill>
                <a:latin typeface="Segoe UI"/>
              </a:rPr>
              <a:t>'The principal attraction of ECC, compared to RSA, is that it appears to offer equal security for a far smaller key size, thereby reducing processing overhead.'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109728" cy="4937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36192"/>
            <a:ext cx="4754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059669"/>
                </a:solidFill>
                <a:latin typeface="Outfit"/>
              </a:rPr>
              <a:t>NIST Key Size Equivalence (SP 800-57)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2084831"/>
          <a:ext cx="48463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18872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Security Level</a:t>
                      </a:r>
                    </a:p>
                  </a:txBody>
                  <a:tcPr marL="109728" marR="109728" marT="73152" marB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RSA Key</a:t>
                      </a:r>
                    </a:p>
                  </a:txBody>
                  <a:tcPr marL="109728" marR="109728" marT="73152" marB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ECC Key</a:t>
                      </a:r>
                    </a:p>
                  </a:txBody>
                  <a:tcPr marL="109728" marR="109728" marT="73152" marB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Ratio</a:t>
                      </a:r>
                    </a:p>
                  </a:txBody>
                  <a:tcPr marL="109728" marR="109728" marT="73152" marB="73152" anchor="ctr"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80 bits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1024 bits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160 bits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6 : 1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112 bits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2048 bits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224 bits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9 : 1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128 bits ★</a:t>
                      </a:r>
                    </a:p>
                  </a:txBody>
                  <a:tcPr marL="109728" marR="109728" marT="73152" marB="7315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3072 bits</a:t>
                      </a:r>
                    </a:p>
                  </a:txBody>
                  <a:tcPr marL="109728" marR="109728" marT="73152" marB="7315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256 bits</a:t>
                      </a:r>
                    </a:p>
                  </a:txBody>
                  <a:tcPr marL="109728" marR="109728" marT="73152" marB="7315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12 : 1</a:t>
                      </a:r>
                    </a:p>
                  </a:txBody>
                  <a:tcPr marL="109728" marR="109728" marT="73152" marB="73152" anchor="ctr"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192 bits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7680 bits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384 bits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20 : 1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256 bits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15360 bits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512 bits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30 : 1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530352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1">
                <a:solidFill>
                  <a:srgbClr val="2563EB"/>
                </a:solidFill>
                <a:latin typeface="Segoe UI"/>
              </a:rPr>
              <a:t>★ 128-bit Commercial Standard: ECC achieves the exact same security with 256 bits that RSA requires 3072 bits to reach (12× smaller key size!).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04  </a:t>
            </a:r>
            <a:r>
              <a:rPr sz="2400" b="1">
                <a:solidFill>
                  <a:srgbClr val="0F172A"/>
                </a:solidFill>
                <a:latin typeface="Outfit"/>
              </a:rPr>
              <a:t>What is an Elliptic Curve?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A non-singular cubic plane curve with smooth geometry (Stallings Sec 10.3)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4937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49377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563EB"/>
                </a:solidFill>
                <a:latin typeface="Outfit"/>
              </a:rPr>
              <a:t>Definition &amp; Geometric Properties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7C3AED"/>
                </a:solidFill>
                <a:latin typeface="Consolas"/>
              </a:rPr>
              <a:t>y² = x³ + ax + b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Cubic Equation (Degree 3): </a:t>
            </a:r>
            <a:r>
              <a:rPr sz="1200">
                <a:solidFill>
                  <a:srgbClr val="334155"/>
                </a:solidFill>
                <a:latin typeface="Segoe UI"/>
              </a:rPr>
              <a:t>The highest power is 3. Any straight line intersects the curve at exactly THREE points (counting multiplicity).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Not an Ellipse: </a:t>
            </a:r>
            <a:r>
              <a:rPr sz="1200">
                <a:solidFill>
                  <a:srgbClr val="334155"/>
                </a:solidFill>
                <a:latin typeface="Segoe UI"/>
              </a:rPr>
              <a:t>Named after elliptic integrals historically used to calculate the arc length of an ellipse.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Point at Infinity O: </a:t>
            </a:r>
            <a:r>
              <a:rPr sz="1200">
                <a:solidFill>
                  <a:srgbClr val="334155"/>
                </a:solidFill>
                <a:latin typeface="Segoe UI"/>
              </a:rPr>
              <a:t>A single conceptual zero point lying along every vertical line; serves as group additive identity.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Horizontal Symmetry: </a:t>
            </a:r>
            <a:r>
              <a:rPr sz="1200">
                <a:solidFill>
                  <a:srgbClr val="334155"/>
                </a:solidFill>
                <a:latin typeface="Segoe UI"/>
              </a:rPr>
              <a:t>Symmetrical about the x-axis: y = ±√(x³ + ax + b).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Non-Singularity Condition: </a:t>
            </a:r>
            <a:r>
              <a:rPr sz="1200">
                <a:solidFill>
                  <a:srgbClr val="334155"/>
                </a:solidFill>
                <a:latin typeface="Segoe UI"/>
              </a:rPr>
              <a:t>Discriminant 4a³ + 27b² ≠ 0 guarantees no cusps or self-intersections, so tangents always exist.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25880"/>
            <a:ext cx="49377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urve_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63040"/>
            <a:ext cx="4663440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58064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D97706"/>
                </a:solidFill>
                <a:latin typeface="Segoe UI"/>
              </a:rPr>
              <a:t>Continuous Elliptic Curve Shapes over Real Numbers R</a:t>
            </a:r>
          </a:p>
        </p:txBody>
      </p:sp>
    </p:spTree>
  </p:cSld>
  <p:clrMapOvr>
    <a:masterClrMapping/>
  </p:clrMapOvr>
  <p:transition spd="fast">
    <p:push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05  </a:t>
            </a:r>
            <a:r>
              <a:rPr sz="2400" b="1">
                <a:solidFill>
                  <a:srgbClr val="0F172A"/>
                </a:solidFill>
                <a:latin typeface="Outfit"/>
              </a:rPr>
              <a:t>Why are Elliptic Curves Used in Cryptography?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Exponential hardness and maximum security per 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4937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47091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2563EB"/>
                </a:solidFill>
                <a:latin typeface="Outfit"/>
              </a:rPr>
              <a:t>1. Natural Abelian Group Structure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Group Operations: </a:t>
            </a:r>
            <a:r>
              <a:rPr sz="1200">
                <a:solidFill>
                  <a:srgbClr val="334155"/>
                </a:solidFill>
                <a:latin typeface="Segoe UI"/>
              </a:rPr>
              <a:t>Points on an elliptic curve naturally form an Abelian group under chord-and-tangent addition.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Closure Guaranteed: </a:t>
            </a:r>
            <a:r>
              <a:rPr sz="1200">
                <a:solidFill>
                  <a:srgbClr val="334155"/>
                </a:solidFill>
                <a:latin typeface="Segoe UI"/>
              </a:rPr>
              <a:t>Adding any two valid curve points always produces another point that is guaranteed to lie on the curve.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Associative &amp; Commutative: </a:t>
            </a:r>
            <a:r>
              <a:rPr sz="1200">
                <a:solidFill>
                  <a:srgbClr val="334155"/>
                </a:solidFill>
                <a:latin typeface="Segoe UI"/>
              </a:rPr>
              <a:t>The order and grouping of operations do not matter: (P + Q) + R = P + (Q + R) and P + Q = Q + P.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Identity &amp; Inverses: </a:t>
            </a:r>
            <a:r>
              <a:rPr sz="1200">
                <a:solidFill>
                  <a:srgbClr val="334155"/>
                </a:solidFill>
                <a:latin typeface="Segoe UI"/>
              </a:rPr>
              <a:t>The point at infinity O serves as identity, and reflection across the x-axis provides exact point negation -P.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109728" cy="4937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36192"/>
            <a:ext cx="47091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7C3AED"/>
                </a:solidFill>
                <a:latin typeface="Outfit"/>
              </a:rPr>
              <a:t>2. No Sub-Exponential Attacks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The Weakness of RSA: </a:t>
            </a:r>
            <a:r>
              <a:rPr sz="1200">
                <a:solidFill>
                  <a:srgbClr val="334155"/>
                </a:solidFill>
                <a:latin typeface="Segoe UI"/>
              </a:rPr>
              <a:t>In regular integers modulo p (RSA/Diffie-Hellman), Index Calculus attacks solve discrete logs in sub-exponential time O(exp(c (ln p)^{1/3})).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No Prime Factors on Curves: </a:t>
            </a:r>
            <a:r>
              <a:rPr sz="1200">
                <a:solidFill>
                  <a:srgbClr val="334155"/>
                </a:solidFill>
                <a:latin typeface="Segoe UI"/>
              </a:rPr>
              <a:t>Elliptic curve points have NO analogue to prime factors! Index calculus does NOT apply to general elliptic curves.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Strictly Exponential Hardness: </a:t>
            </a:r>
            <a:r>
              <a:rPr sz="1200">
                <a:solidFill>
                  <a:srgbClr val="334155"/>
                </a:solidFill>
                <a:latin typeface="Segoe UI"/>
              </a:rPr>
              <a:t>The fastest known attack is Pollard's rho, which requires fully exponential time O(√p).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12× Key Size Advantage: </a:t>
            </a:r>
            <a:r>
              <a:rPr sz="1200">
                <a:solidFill>
                  <a:srgbClr val="334155"/>
                </a:solidFill>
                <a:latin typeface="Segoe UI"/>
              </a:rPr>
              <a:t>A 256-bit ECC key offers the exact same mathematical security as a 3072-bit RSA key.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06  </a:t>
            </a:r>
            <a:r>
              <a:rPr sz="2400" b="1">
                <a:solidFill>
                  <a:srgbClr val="0F172A"/>
                </a:solidFill>
                <a:latin typeface="Outfit"/>
              </a:rPr>
              <a:t>Abelian Groups — Mathematical Foundation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A set G with binary operation satisfying 5 axioms (Stallings Sec 10.3)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7863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35608"/>
            <a:ext cx="101498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50" b="1">
                <a:solidFill>
                  <a:srgbClr val="2563EB"/>
                </a:solidFill>
                <a:latin typeface="Outfit"/>
              </a:rPr>
              <a:t>(A1) Closure:   </a:t>
            </a:r>
            <a:r>
              <a:rPr sz="1350">
                <a:solidFill>
                  <a:srgbClr val="0F172A"/>
                </a:solidFill>
                <a:latin typeface="Segoe UI"/>
              </a:rPr>
              <a:t>For all a, b in G, the combination a • b is also in 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03704"/>
            <a:ext cx="10728655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03704"/>
            <a:ext cx="109728" cy="7863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13432"/>
            <a:ext cx="101498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50" b="1">
                <a:solidFill>
                  <a:srgbClr val="7C3AED"/>
                </a:solidFill>
                <a:latin typeface="Outfit"/>
              </a:rPr>
              <a:t>(A2) Associativity:   </a:t>
            </a:r>
            <a:r>
              <a:rPr sz="1350">
                <a:solidFill>
                  <a:srgbClr val="0F172A"/>
                </a:solidFill>
                <a:latin typeface="Segoe UI"/>
              </a:rPr>
              <a:t>For all a, b, c in G, (a • b) • c = a • (b • c). Grouping does not affect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81528"/>
            <a:ext cx="10728655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081528"/>
            <a:ext cx="109728" cy="78638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91256"/>
            <a:ext cx="101498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50" b="1">
                <a:solidFill>
                  <a:srgbClr val="059669"/>
                </a:solidFill>
                <a:latin typeface="Outfit"/>
              </a:rPr>
              <a:t>(A3) Identity Element:   </a:t>
            </a:r>
            <a:r>
              <a:rPr sz="1350">
                <a:solidFill>
                  <a:srgbClr val="0F172A"/>
                </a:solidFill>
                <a:latin typeface="Segoe UI"/>
              </a:rPr>
              <a:t>There exists an element e in G such that a • e = e • a = 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59352"/>
            <a:ext cx="10728655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59352"/>
            <a:ext cx="109728" cy="78638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101498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50" b="1">
                <a:solidFill>
                  <a:srgbClr val="E11D48"/>
                </a:solidFill>
                <a:latin typeface="Outfit"/>
              </a:rPr>
              <a:t>(A4) Inverse Element:   </a:t>
            </a:r>
            <a:r>
              <a:rPr sz="1350">
                <a:solidFill>
                  <a:srgbClr val="0F172A"/>
                </a:solidFill>
                <a:latin typeface="Segoe UI"/>
              </a:rPr>
              <a:t>For each a in G, there exists a unique a' such that a • a' = 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37176"/>
            <a:ext cx="10728655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837176"/>
            <a:ext cx="109728" cy="7863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946904"/>
            <a:ext cx="101498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50" b="1">
                <a:solidFill>
                  <a:srgbClr val="D97706"/>
                </a:solidFill>
                <a:latin typeface="Outfit"/>
              </a:rPr>
              <a:t>(A5) Commutativity:   </a:t>
            </a:r>
            <a:r>
              <a:rPr sz="1350">
                <a:solidFill>
                  <a:srgbClr val="0F172A"/>
                </a:solidFill>
                <a:latin typeface="Segoe UI"/>
              </a:rPr>
              <a:t>For all a, b in G, a • b = b • a. (The distinctive Abelian property!)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79008"/>
            <a:ext cx="10728655" cy="62179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833872"/>
            <a:ext cx="102412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Segoe UI"/>
              </a:rPr>
              <a:t>ECC Analogy: Group operation = Point Addition (+). Identity = Point at Infinity O. Inverse = -P = (x, -y).</a:t>
            </a:r>
          </a:p>
        </p:txBody>
      </p:sp>
    </p:spTree>
  </p:cSld>
  <p:clrMapOvr>
    <a:masterClrMapping/>
  </p:clrMapOvr>
  <p:transition spd="fast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07  </a:t>
            </a:r>
            <a:r>
              <a:rPr sz="2400" b="1">
                <a:solidFill>
                  <a:srgbClr val="0F172A"/>
                </a:solidFill>
                <a:latin typeface="Outfit"/>
              </a:rPr>
              <a:t>Elliptic Curves over Real Numbers 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Weierstrass cubic equation and non-singularity condition (Stallings Sec 10.3)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4937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49377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563EB"/>
                </a:solidFill>
                <a:latin typeface="Outfit"/>
              </a:rPr>
              <a:t>Cubic Weierstrass Form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7C3AED"/>
                </a:solidFill>
                <a:latin typeface="Consolas"/>
              </a:rPr>
              <a:t>y² = x³ + ax + b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Set of Points E(a, b): </a:t>
            </a:r>
            <a:r>
              <a:rPr sz="1200">
                <a:solidFill>
                  <a:srgbClr val="334155"/>
                </a:solidFill>
                <a:latin typeface="Segoe UI"/>
              </a:rPr>
              <a:t>Comprises all real coordinate pairs (x, y) satisfying the cubic equation, plus the single point at infinity O.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Vertical Symmetry: </a:t>
            </a:r>
            <a:r>
              <a:rPr sz="1200">
                <a:solidFill>
                  <a:srgbClr val="334155"/>
                </a:solidFill>
                <a:latin typeface="Segoe UI"/>
              </a:rPr>
              <a:t>The curve is completely symmetric about the horizontal axis y = 0.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Non-Singularity (Eq. 10.2): </a:t>
            </a:r>
            <a:r>
              <a:rPr sz="1200">
                <a:solidFill>
                  <a:srgbClr val="334155"/>
                </a:solidFill>
                <a:latin typeface="Segoe UI"/>
              </a:rPr>
              <a:t>Discriminant condition: 4a³ + 27b² ≠ 0.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Geometric Consequence: </a:t>
            </a:r>
            <a:r>
              <a:rPr sz="1200">
                <a:solidFill>
                  <a:srgbClr val="334155"/>
                </a:solidFill>
                <a:latin typeface="Segoe UI"/>
              </a:rPr>
              <a:t>Ensures the polynomial x³ + ax + b has three distinct roots, preventing cusps or self-intersections so tangent lines are defined everywhere.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25880"/>
            <a:ext cx="49377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urve_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63040"/>
            <a:ext cx="4663440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58064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D97706"/>
                </a:solidFill>
                <a:latin typeface="Segoe UI"/>
              </a:rPr>
              <a:t>Stallings Fig 10.4: Curve Shapes for (a) y²=x³-x and (b) y²=x³-x+1</a:t>
            </a:r>
          </a:p>
        </p:txBody>
      </p:sp>
    </p:spTree>
  </p:cSld>
  <p:clrMapOvr>
    <a:masterClrMapping/>
  </p:clrMapOvr>
  <p:transition spd="fast">
    <p:push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08  </a:t>
            </a:r>
            <a:r>
              <a:rPr sz="2400" b="1">
                <a:solidFill>
                  <a:srgbClr val="0F172A"/>
                </a:solidFill>
                <a:latin typeface="Outfit"/>
              </a:rPr>
              <a:t>Geometric Addition — The 5 Fundamental Rules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Chord-and-Tangent Law: If 3 points lie on a straight line, P + Q + R = 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21792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87782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576072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50" b="1">
                <a:solidFill>
                  <a:srgbClr val="2563EB"/>
                </a:solidFill>
                <a:latin typeface="Outfit"/>
              </a:rPr>
              <a:t>Rule 1: Identity Element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0F172A"/>
                </a:solidFill>
                <a:latin typeface="Segoe UI"/>
              </a:rPr>
              <a:t>O serves as additive identity: P + O = P. By definition, O = -O.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621792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9728" cy="87782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576072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Outfit"/>
              </a:rPr>
              <a:t>Rule 2: Point Negation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0F172A"/>
                </a:solidFill>
                <a:latin typeface="Segoe UI"/>
              </a:rPr>
              <a:t>Negative of P=(x,y) is -P=(x,-y). Vertical line joins them. P + (-P) = 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621792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109728" cy="87782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576072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50" b="1">
                <a:solidFill>
                  <a:srgbClr val="D97706"/>
                </a:solidFill>
                <a:latin typeface="Outfit"/>
              </a:rPr>
              <a:t>Rule 3: Distinct Points (P ≠ Q)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0F172A"/>
                </a:solidFill>
                <a:latin typeface="Segoe UI"/>
              </a:rPr>
              <a:t>Draw secant line through P and Q. Third intersection is R. Sum P + Q = -R (reflect R across x-axis).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621792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9728" cy="87782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576072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50" b="1">
                <a:solidFill>
                  <a:srgbClr val="E11D48"/>
                </a:solidFill>
                <a:latin typeface="Outfit"/>
              </a:rPr>
              <a:t>Rule 4: Vertical Line Case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0F172A"/>
                </a:solidFill>
                <a:latin typeface="Segoe UI"/>
              </a:rPr>
              <a:t>Two points with same x-coord (P and -P) lie on a vertical line intersecting at O. P + (-P) = 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66360"/>
            <a:ext cx="621792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5166360"/>
            <a:ext cx="109728" cy="87782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257800"/>
            <a:ext cx="576072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50" b="1">
                <a:solidFill>
                  <a:srgbClr val="059669"/>
                </a:solidFill>
                <a:latin typeface="Outfit"/>
              </a:rPr>
              <a:t>Rule 5: Point Doubling (2Q)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0F172A"/>
                </a:solidFill>
                <a:latin typeface="Segoe UI"/>
              </a:rPr>
              <a:t>Draw tangent line at Q. It intersects curve at S. Doubled point 2Q = Q + Q = -S.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1325880"/>
            <a:ext cx="42062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oint_addi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63040"/>
            <a:ext cx="3931920" cy="4343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60920" y="58064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D97706"/>
                </a:solidFill>
                <a:latin typeface="Segoe UI"/>
              </a:rPr>
              <a:t>Secant Line Construction for P + Q = -R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09  </a:t>
            </a:r>
            <a:r>
              <a:rPr sz="2400" b="1">
                <a:solidFill>
                  <a:srgbClr val="0F172A"/>
                </a:solidFill>
                <a:latin typeface="Outfit"/>
              </a:rPr>
              <a:t>Point Doubling — Tangent Construction 2P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Adding a point to itself via tangent slope (Stallings Sec 10.3)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4937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49377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Outfit"/>
              </a:rPr>
              <a:t>Tangent Line Construction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Secant turns into Tangent: </a:t>
            </a:r>
            <a:r>
              <a:rPr sz="1200">
                <a:solidFill>
                  <a:srgbClr val="334155"/>
                </a:solidFill>
                <a:latin typeface="Segoe UI"/>
              </a:rPr>
              <a:t>As point Q approaches P along the curve, the secant line approaches the tangent line to the curve at P.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Slope via Implicit Derivative: </a:t>
            </a:r>
            <a:r>
              <a:rPr sz="1200">
                <a:solidFill>
                  <a:srgbClr val="334155"/>
                </a:solidFill>
                <a:latin typeface="Segoe UI"/>
              </a:rPr>
              <a:t>Differentiating y² = x³ + ax + b yields 2y(dy/dx) = 3x² + a, so tangent slope λ = (3x_P² + a) / (2y_P).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Second Intersection Point S: </a:t>
            </a:r>
            <a:r>
              <a:rPr sz="1200">
                <a:solidFill>
                  <a:srgbClr val="334155"/>
                </a:solidFill>
                <a:latin typeface="Segoe UI"/>
              </a:rPr>
              <a:t>The tangent line intersects the cubic curve at exactly one second point S.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Reflection across x-axis: </a:t>
            </a:r>
            <a:r>
              <a:rPr sz="1200">
                <a:solidFill>
                  <a:srgbClr val="334155"/>
                </a:solidFill>
                <a:latin typeface="Segoe UI"/>
              </a:rPr>
              <a:t>The reflection of S across the x-axis gives the doubled point: 2P = -S.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Vertical Tangent Case: </a:t>
            </a:r>
            <a:r>
              <a:rPr sz="1200">
                <a:solidFill>
                  <a:srgbClr val="334155"/>
                </a:solidFill>
                <a:latin typeface="Segoe UI"/>
              </a:rPr>
              <a:t>If y_P = 0, the tangent line is vertical, meaning it intersects only at infinity: 2P = 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25880"/>
            <a:ext cx="49377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int_doubl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63040"/>
            <a:ext cx="4663440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58064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D97706"/>
                </a:solidFill>
                <a:latin typeface="Segoe UI"/>
              </a:rPr>
              <a:t>Tangent Line Construction for Point Doubling 2P = -S</a:t>
            </a:r>
          </a:p>
        </p:txBody>
      </p:sp>
    </p:spTree>
  </p:cSld>
  <p:clrMapOvr>
    <a:masterClrMapping/>
  </p:clrMapOvr>
  <p:transition spd="fast">
    <p:push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10  </a:t>
            </a:r>
            <a:r>
              <a:rPr sz="2400" b="1">
                <a:solidFill>
                  <a:srgbClr val="0F172A"/>
                </a:solidFill>
                <a:latin typeface="Outfit"/>
              </a:rPr>
              <a:t>Algebraic Formulas over Real Numbers 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Converting geometric secants and tangents to closed-form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4937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47091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Outfit"/>
              </a:rPr>
              <a:t>Point Addition (P ≠ Q)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Secant Slope λ: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563EB"/>
                </a:solidFill>
                <a:latin typeface="Consolas"/>
              </a:rPr>
              <a:t>   λ = (y_Q - y_P) / (x_Q - x_P)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Intersection Coordinate x_R: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563EB"/>
                </a:solidFill>
                <a:latin typeface="Consolas"/>
              </a:rPr>
              <a:t>   x_R = λ² - x_P - x_Q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Reflected Coordinate y_R: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563EB"/>
                </a:solidFill>
                <a:latin typeface="Consolas"/>
              </a:rPr>
              <a:t>   y_R = λ(x_P - x_R) - y_P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Vertical Condition: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563EB"/>
                </a:solidFill>
                <a:latin typeface="Consolas"/>
              </a:rPr>
              <a:t>   If x_P = x_Q and y_P = -y_Q, then P + Q = 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109728" cy="4937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36192"/>
            <a:ext cx="47091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7C3AED"/>
                </a:solidFill>
                <a:latin typeface="Outfit"/>
              </a:rPr>
              <a:t>Point Doubling (2P = P + P)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Tangent Slope λ (via dy/dx):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7C3AED"/>
                </a:solidFill>
                <a:latin typeface="Consolas"/>
              </a:rPr>
              <a:t>   λ = (3x_P² + a) / (2y_P)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Intersection Coordinate x_R: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7C3AED"/>
                </a:solidFill>
                <a:latin typeface="Consolas"/>
              </a:rPr>
              <a:t>   x_R = λ² - 2x_P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Reflected Coordinate y_R: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7C3AED"/>
                </a:solidFill>
                <a:latin typeface="Consolas"/>
              </a:rPr>
              <a:t>   y_R = λ(x_P - x_R) - y_P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Vertical Condition: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7C3AED"/>
                </a:solidFill>
                <a:latin typeface="Consolas"/>
              </a:rPr>
              <a:t>   If y_P = 0, tangent is vertical, so 2P = O.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11  </a:t>
            </a:r>
            <a:r>
              <a:rPr sz="2400" b="1">
                <a:solidFill>
                  <a:srgbClr val="0F172A"/>
                </a:solidFill>
                <a:latin typeface="Outfit"/>
              </a:rPr>
              <a:t>Two Cryptographic Families — Z_p vs GF(2^m)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Finite fields eliminate floating-point rounding errors (Stallings Sec 10.3)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4937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47091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2563EB"/>
                </a:solidFill>
                <a:latin typeface="Outfit"/>
              </a:rPr>
              <a:t>1. Prime Curves over Z_p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Field Elements: </a:t>
            </a:r>
            <a:r>
              <a:rPr sz="1200">
                <a:solidFill>
                  <a:srgbClr val="334155"/>
                </a:solidFill>
                <a:latin typeface="Segoe UI"/>
              </a:rPr>
              <a:t>Restricted to integers {0, 1, ..., p-1} modulo a large prime p.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Curve Equation: </a:t>
            </a:r>
            <a:r>
              <a:rPr sz="1200">
                <a:solidFill>
                  <a:srgbClr val="334155"/>
                </a:solidFill>
                <a:latin typeface="Segoe UI"/>
              </a:rPr>
              <a:t>y² ≡ x³ + ax + b (mod p).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Non-Singularity: </a:t>
            </a:r>
            <a:r>
              <a:rPr sz="1200">
                <a:solidFill>
                  <a:srgbClr val="334155"/>
                </a:solidFill>
                <a:latin typeface="Segoe UI"/>
              </a:rPr>
              <a:t>(4a³ + 27b²) mod p ≠ 0.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Ideal for Software: </a:t>
            </a:r>
            <a:r>
              <a:rPr sz="1200">
                <a:solidFill>
                  <a:srgbClr val="334155"/>
                </a:solidFill>
                <a:latin typeface="Segoe UI"/>
              </a:rPr>
              <a:t>Standard microprocessors (Intel, ARM, AMD) have optimized 64-bit integer ALUs that compute modular operations with maximum efficiency.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No Bit-Level Overhead: </a:t>
            </a:r>
            <a:r>
              <a:rPr sz="1200">
                <a:solidFill>
                  <a:srgbClr val="334155"/>
                </a:solidFill>
                <a:latin typeface="Segoe UI"/>
              </a:rPr>
              <a:t>Does NOT require complex polynomial carry manipulation.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109728" cy="4937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36192"/>
            <a:ext cx="47091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7C3AED"/>
                </a:solidFill>
                <a:latin typeface="Outfit"/>
              </a:rPr>
              <a:t>2. Binary Curves over GF(2^m)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Field Elements: </a:t>
            </a:r>
            <a:r>
              <a:rPr sz="1200">
                <a:solidFill>
                  <a:srgbClr val="334155"/>
                </a:solidFill>
                <a:latin typeface="Segoe UI"/>
              </a:rPr>
              <a:t>Polynomials with binary coefficients {0, 1} of degree &lt; m.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Curve Equation: </a:t>
            </a:r>
            <a:r>
              <a:rPr sz="1200">
                <a:solidFill>
                  <a:srgbClr val="334155"/>
                </a:solidFill>
                <a:latin typeface="Segoe UI"/>
              </a:rPr>
              <a:t>y² + xy = x³ + ax² + b.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Non-Singularity: </a:t>
            </a:r>
            <a:r>
              <a:rPr sz="1200">
                <a:solidFill>
                  <a:srgbClr val="334155"/>
                </a:solidFill>
                <a:latin typeface="Segoe UI"/>
              </a:rPr>
              <a:t>b ≠ 0 (ensures curve is non-singular).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Ideal for Hardware: </a:t>
            </a:r>
            <a:r>
              <a:rPr sz="1200">
                <a:solidFill>
                  <a:srgbClr val="334155"/>
                </a:solidFill>
                <a:latin typeface="Segoe UI"/>
              </a:rPr>
              <a:t>Addition in GF(2^m) is simple bitwise XOR without any carry propagation delays!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Ultra-Compact Silicon: </a:t>
            </a:r>
            <a:r>
              <a:rPr sz="1200">
                <a:solidFill>
                  <a:srgbClr val="334155"/>
                </a:solidFill>
                <a:latin typeface="Segoe UI"/>
              </a:rPr>
              <a:t>Requires very few logic gates, making it the premier choice for smart cards, ASICs, and FPGAs.</a:t>
            </a:r>
          </a:p>
        </p:txBody>
      </p:sp>
    </p:spTree>
  </p:cSld>
  <p:clrMapOvr>
    <a:masterClrMapping/>
  </p:clrMapOvr>
  <p:transition spd="fast">
    <p:wipe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12  </a:t>
            </a:r>
            <a:r>
              <a:rPr sz="2400" b="1">
                <a:solidFill>
                  <a:srgbClr val="0F172A"/>
                </a:solidFill>
                <a:latin typeface="Outfit"/>
              </a:rPr>
              <a:t>Elliptic Curves over Prime Field Z_p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Set of points E_p(a, b) and Hasse's Theorem (Stallings Section 10.3)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4937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49377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563EB"/>
                </a:solidFill>
                <a:latin typeface="Outfit"/>
              </a:rPr>
              <a:t>Definition &amp; Group Size Bounds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Modular Equation: </a:t>
            </a:r>
            <a:r>
              <a:rPr sz="1200">
                <a:solidFill>
                  <a:srgbClr val="334155"/>
                </a:solidFill>
                <a:latin typeface="Segoe UI"/>
              </a:rPr>
              <a:t>y² mod p = (x³ + ax + b) mod p, where a, b ∈ Z_p.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Non-Singularity: </a:t>
            </a:r>
            <a:r>
              <a:rPr sz="1200">
                <a:solidFill>
                  <a:srgbClr val="334155"/>
                </a:solidFill>
                <a:latin typeface="Segoe UI"/>
              </a:rPr>
              <a:t>(4a³ + 27b²) mod p ≠ 0.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Hasse's Theorem (Stallings p. 8): </a:t>
            </a:r>
            <a:r>
              <a:rPr sz="1200">
                <a:solidFill>
                  <a:srgbClr val="334155"/>
                </a:solidFill>
                <a:latin typeface="Segoe UI"/>
              </a:rPr>
              <a:t>The number of points N on E_p(a, b) satisfies: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2563EB"/>
                </a:solidFill>
                <a:latin typeface="Consolas"/>
              </a:rPr>
              <a:t>       p + 1 - 2√p  ≤  N  ≤  p + 1 + 2√p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Worked Count for p = 23: </a:t>
            </a:r>
            <a:r>
              <a:rPr sz="1200">
                <a:solidFill>
                  <a:srgbClr val="334155"/>
                </a:solidFill>
                <a:latin typeface="Segoe UI"/>
              </a:rPr>
              <a:t>For E₂₃(1, 1), Hasse's theorem bounds N between 15 and 33. The actual count is N = 28 (27 points from Table 10.1 plus O).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Symmetry Property: </a:t>
            </a:r>
            <a:r>
              <a:rPr sz="1200">
                <a:solidFill>
                  <a:srgbClr val="334155"/>
                </a:solidFill>
                <a:latin typeface="Segoe UI"/>
              </a:rPr>
              <a:t>Symmetric about the horizontal line y = p / 2 = 11.5.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25880"/>
            <a:ext cx="49377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e_10_5_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63040"/>
            <a:ext cx="4663440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58064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D97706"/>
                </a:solidFill>
                <a:latin typeface="Segoe UI"/>
              </a:rPr>
              <a:t>Stallings Fig 10.5 — Scatter Plot of E₂₃(1, 1) Points (Symmetric about y=11.5)</a:t>
            </a:r>
          </a:p>
        </p:txBody>
      </p:sp>
    </p:spTree>
  </p:cSld>
  <p:clrMapOvr>
    <a:masterClrMapping/>
  </p:clrMapOvr>
  <p:transition spd="fast">
    <p:push dir="r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13  </a:t>
            </a:r>
            <a:r>
              <a:rPr sz="2400" b="1">
                <a:solidFill>
                  <a:srgbClr val="0F172A"/>
                </a:solidFill>
                <a:latin typeface="Outfit"/>
              </a:rPr>
              <a:t>Arithmetic Rules &amp; Slope Formulas over Z_p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The 4 formal rules for E_p(a, b) (Stallings p. 7-8)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11155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563EB"/>
                </a:solidFill>
                <a:latin typeface="Outfit"/>
              </a:rPr>
              <a:t>Rule 1: Additive Identity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0F172A"/>
                </a:solidFill>
                <a:latin typeface="Consolas"/>
              </a:rPr>
              <a:t>P + O = P for all points P on the curve. Point O is its own inverse: O = -O.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51176"/>
            <a:ext cx="10728655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551176"/>
            <a:ext cx="109728" cy="11155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42616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Outfit"/>
              </a:rPr>
              <a:t>Rule 2: Point Negation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0F172A"/>
                </a:solidFill>
                <a:latin typeface="Consolas"/>
              </a:rPr>
              <a:t>If P = (x_P, y_P), -P = (x_P, -y_P mod p) = (x_P, p - y_P). P + (-P) = O.
Example on E₂₃(1, 1): P = (13, 7) gives -P = (13, 23 - 7) = (13, 16) ∈ E₂₃(1, 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76472"/>
            <a:ext cx="10728655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776472"/>
            <a:ext cx="109728" cy="111556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67912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D97706"/>
                </a:solidFill>
                <a:latin typeface="Outfit"/>
              </a:rPr>
              <a:t>Rule 3: Point Addition (P ≠ Q)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0F172A"/>
                </a:solidFill>
                <a:latin typeface="Consolas"/>
              </a:rPr>
              <a:t>λ = [(y_Q - y_P) × (x_Q - x_P)^{-1}] mod p
x_R = (λ² - x_P - x_Q) mod p
y_R = [λ(x_P - x_R) - y_P] mod 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01768"/>
            <a:ext cx="10728655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5001768"/>
            <a:ext cx="109728" cy="11155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93208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59669"/>
                </a:solidFill>
                <a:latin typeface="Outfit"/>
              </a:rPr>
              <a:t>Rule 4: Point Doubling (P = Q)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0F172A"/>
                </a:solidFill>
                <a:latin typeface="Consolas"/>
              </a:rPr>
              <a:t>λ = [(3x_P² + a) × (2y_P)^{-1}] mod p
x_R = (λ² - 2x_P) mod p
y_R = [λ(x_P - x_R) - y_P] mod p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14  </a:t>
            </a:r>
            <a:r>
              <a:rPr sz="2400" b="1">
                <a:solidFill>
                  <a:srgbClr val="0F172A"/>
                </a:solidFill>
                <a:latin typeface="Outfit"/>
              </a:rPr>
              <a:t>Worked Numerical Example 1 — Point Addition P + Q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Evaluated on curve E₂₃(1, 1): y² ≡ x³ + x + 1 (mod 23)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4114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08760"/>
            <a:ext cx="3072384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2563EB"/>
                </a:solidFill>
                <a:latin typeface="Outfit"/>
              </a:rPr>
              <a:t>Step 1: Compute Slope λ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Points on Curve E₂₃(1, 1):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 P = (3, 10),  Q = (9, 7)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Secant Slope Formula: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 λ = (y_Q - y_P) / (x_Q - x_P) mod 23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Coordinate Substitution: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 λ = (7 - 10) / (9 - 3) = -3 / 6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Numerator &amp; Denom: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 λ = -1 / 2 ≡ -3 × 6⁻¹ mod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2588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109728" cy="4114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3072384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7C3AED"/>
                </a:solidFill>
                <a:latin typeface="Outfit"/>
              </a:rPr>
              <a:t>Step 2: Modular Inverse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Extended Euclidean Algorithm: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 Need 6⁻¹ mod 23: 6 × 4 = 24 ≡ 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Inverse Value Found: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 6⁻¹ ≡ 4 (mod 23)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Multiply by Inverse: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 λ = (-3) × 4 = -12 mod 23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Positive Slope Result: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059669"/>
                </a:solidFill>
                <a:latin typeface="Consolas"/>
              </a:rPr>
              <a:t> λ = 23 - 12 = 11 (mod 23) 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32588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0144" y="1325880"/>
            <a:ext cx="109728" cy="41148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08760"/>
            <a:ext cx="3072384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059669"/>
                </a:solidFill>
                <a:latin typeface="Outfit"/>
              </a:rPr>
              <a:t>Step 3: Point Coordinates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Compute x_R Coordinate: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 x_R = (11² - 3 - 9) mod 23 = 17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Compute y_R Coordinate: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 y_R = [11(3 - 17) - 10] = 20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Point Addition Result: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059669"/>
                </a:solidFill>
                <a:latin typeface="Consolas"/>
              </a:rPr>
              <a:t> P + Q = (17, 20) ∈ E₂₃(1, 1) ✔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Table 10.1 Confirmation: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 Point verified in Stallings 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10728655" cy="685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687568"/>
            <a:ext cx="10241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2563EB"/>
                </a:solidFill>
                <a:latin typeface="Consolas"/>
              </a:rPr>
              <a:t>Verification: LHS = 20² mod 23 = 400 mod 23 = 9.  RHS = (17³ + 17 + 1) mod 23 = 4931 mod 23 = 9.  LHS = RHS = 9 ✔</a:t>
            </a:r>
          </a:p>
        </p:txBody>
      </p:sp>
    </p:spTree>
  </p:cSld>
  <p:clrMapOvr>
    <a:masterClrMapping/>
  </p:clrMapOvr>
  <p:transition spd="fast">
    <p:push dir="r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15  </a:t>
            </a:r>
            <a:r>
              <a:rPr sz="2400" b="1">
                <a:solidFill>
                  <a:srgbClr val="0F172A"/>
                </a:solidFill>
                <a:latin typeface="Outfit"/>
              </a:rPr>
              <a:t>Worked Numerical Example 2 — Point Doubling 2P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Evaluated on curve E₂₃(1, 1): y² ≡ x³ + x + 1 (mod 23)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4114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08760"/>
            <a:ext cx="3072384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7C3AED"/>
                </a:solidFill>
                <a:latin typeface="Outfit"/>
              </a:rPr>
              <a:t>Step 1: Compute Tangent Slope λ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Point on Curve E₂₃(1, 1):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 P = (3, 10), so x_P = 3, y_P = 10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Tangent Slope Formula: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7C3AED"/>
                </a:solidFill>
                <a:latin typeface="Consolas"/>
              </a:rPr>
              <a:t> λ = (3x_P² + a) / (2y_P) mod 23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Coordinate Substitution: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7C3AED"/>
                </a:solidFill>
                <a:latin typeface="Consolas"/>
              </a:rPr>
              <a:t> λ = (3(3²) + 1) / (2 × 10) mod 23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Numerator &amp; Denom: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7C3AED"/>
                </a:solidFill>
                <a:latin typeface="Consolas"/>
              </a:rPr>
              <a:t> λ = (27 + 1) / 20 = 28 / 20 mod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2588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109728" cy="4114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3072384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D97706"/>
                </a:solidFill>
                <a:latin typeface="Outfit"/>
              </a:rPr>
              <a:t>Step 2: Modular Inverse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Modulo Reduction: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7C3AED"/>
                </a:solidFill>
                <a:latin typeface="Consolas"/>
              </a:rPr>
              <a:t> 28 mod 23 = 5 =&gt; λ = 5/20 = 1/4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Inverse Value Found: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 4 × 6 = 24 ≡ 1 =&gt; 4⁻¹ ≡ 6 (mod 23)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Multiply by Inverse: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 λ = 1 × 6 ≡ 6 (mod 23) ✔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Alternative Check: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 20⁻¹ ≡ 15 =&gt; 28 × 15 = 420 ≡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32588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0144" y="1325880"/>
            <a:ext cx="109728" cy="4114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08760"/>
            <a:ext cx="3072384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2563EB"/>
                </a:solidFill>
                <a:latin typeface="Outfit"/>
              </a:rPr>
              <a:t>Step 3: Point Coordinates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Compute x_R Coordinate: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 x_R = (6² - 2(3)) mod 23 = 7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Compute y_R Coordinate: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 y_R = [6(3 - 7) - 10] = 12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Point Doubling Result: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 2P = (7, 12) ∈ E₂₃(1, 1) ✔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Table 10.1 Confirmation: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 Point verified in Stallings 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10728655" cy="685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687568"/>
            <a:ext cx="10241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7C3AED"/>
                </a:solidFill>
                <a:latin typeface="Consolas"/>
              </a:rPr>
              <a:t>Verification: LHS = 12² mod 23 = 144 mod 23 = 6.  RHS = (7³ + 7 + 1) mod 23 = 351 mod 23 = 6.  LHS = RHS = 6 ✔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16  </a:t>
            </a:r>
            <a:r>
              <a:rPr sz="2400" b="1">
                <a:solidFill>
                  <a:srgbClr val="0F172A"/>
                </a:solidFill>
                <a:latin typeface="Outfit"/>
              </a:rPr>
              <a:t>Elliptic Curves over Binary Fields GF(2^m)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Polynomial representation in characteristic 2 (Stallings Section 10.3)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4937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49377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7C3AED"/>
                </a:solidFill>
                <a:latin typeface="Outfit"/>
              </a:rPr>
              <a:t>Binary Curve Equation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y² + xy = x³ + ax² + b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Non-Singularity Condition: </a:t>
            </a:r>
            <a:r>
              <a:rPr sz="1150">
                <a:solidFill>
                  <a:srgbClr val="334155"/>
                </a:solidFill>
                <a:latin typeface="Segoe UI"/>
              </a:rPr>
              <a:t>b ≠ 0 (guarantees no singular points or cusps).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Concrete Galois Field: </a:t>
            </a:r>
            <a:r>
              <a:rPr sz="1150">
                <a:solidFill>
                  <a:srgbClr val="334155"/>
                </a:solidFill>
                <a:latin typeface="Segoe UI"/>
              </a:rPr>
              <a:t>GF(2^4) with irreducible reduction polynomial f(x) = x⁴ + x + 1.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Generator Root g: </a:t>
            </a:r>
            <a:r>
              <a:rPr sz="1150">
                <a:solidFill>
                  <a:srgbClr val="334155"/>
                </a:solidFill>
                <a:latin typeface="Segoe UI"/>
              </a:rPr>
              <a:t>Satisfies f(g) = 0 =&gt; g⁴ = g + 1 = 0011₂ in standard bit representation.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Book Curve E_{2^4}(g⁴, 1): </a:t>
            </a:r>
            <a:r>
              <a:rPr sz="1150">
                <a:solidFill>
                  <a:srgbClr val="334155"/>
                </a:solidFill>
                <a:latin typeface="Segoe UI"/>
              </a:rPr>
              <a:t>Parameters: a = g⁴, b = 1.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Worked Verification for (g⁵, g³): </a:t>
            </a:r>
            <a:r>
              <a:rPr sz="1150">
                <a:solidFill>
                  <a:srgbClr val="334155"/>
                </a:solidFill>
                <a:latin typeface="Segoe UI"/>
              </a:rPr>
              <a:t>LHS = (g³)² + (g⁵)(g³) = g⁶ + g⁸ = 1100₂ ⊕ 0101₂ = 1001₂.
RHS = (g⁵)³ + g⁴(g⁵)² + 1 = g¹⁵ + g¹⁴ + 1 = 0001₂ ⊕ 1001₂ ⊕ 0001₂ = 1001₂.
LHS = RHS = 1001₂ ✔ Point verified on the curve!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25880"/>
            <a:ext cx="49377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e_10_6_binar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63040"/>
            <a:ext cx="4663440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58064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D97706"/>
                </a:solidFill>
                <a:latin typeface="Segoe UI"/>
              </a:rPr>
              <a:t>Stallings Fig 10.6 — The Elliptic Curve E_{2^4}(g^4, 1) (16 Points)</a:t>
            </a:r>
          </a:p>
        </p:txBody>
      </p:sp>
    </p:spTree>
  </p:cSld>
  <p:clrMapOvr>
    <a:masterClrMapping/>
  </p:clrMapOvr>
  <p:transition spd="fast">
    <p:push dir="r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17  </a:t>
            </a:r>
            <a:r>
              <a:rPr sz="2400" b="1">
                <a:solidFill>
                  <a:srgbClr val="0F172A"/>
                </a:solidFill>
                <a:latin typeface="Outfit"/>
              </a:rPr>
              <a:t>Arithmetic Rules &amp; Slope Formulas over GF(2^m)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The 4 addition rules for E_{2^m}(a, b) (Stallings p. 9-10)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11155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563EB"/>
                </a:solidFill>
                <a:latin typeface="Outfit"/>
              </a:rPr>
              <a:t>Rule 1: Identity Element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0F172A"/>
                </a:solidFill>
                <a:latin typeface="Consolas"/>
              </a:rPr>
              <a:t>P + O = P for all points P in E_{2^m}(a, 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51176"/>
            <a:ext cx="10728655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551176"/>
            <a:ext cx="109728" cy="111556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42616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E11D48"/>
                </a:solidFill>
                <a:latin typeface="Outfit"/>
              </a:rPr>
              <a:t>Rule 2: Point Negation in Char 2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0F172A"/>
                </a:solidFill>
                <a:latin typeface="Consolas"/>
              </a:rPr>
              <a:t>If P = (x_P, y_P), -P = (x_P, x_P + y_P). P + (x_P, x_P + y_P) = O.
Crucial distinction: In characteristic 2, +1 = -1, so negation is (x_P, x_P + y_P), NOT (x, -y)!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76472"/>
            <a:ext cx="10728655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776472"/>
            <a:ext cx="109728" cy="11155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67912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Outfit"/>
              </a:rPr>
              <a:t>Rule 3: Point Addition (P ≠ Q)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0F172A"/>
                </a:solidFill>
                <a:latin typeface="Consolas"/>
              </a:rPr>
              <a:t>λ = (y_Q + y_P) / (x_Q + x_P)
x_R = λ² + λ + x_P + x_Q + a
y_R = λ(x_P + x_R) + x_R + y_P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01768"/>
            <a:ext cx="10728655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5001768"/>
            <a:ext cx="109728" cy="11155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93208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59669"/>
                </a:solidFill>
                <a:latin typeface="Outfit"/>
              </a:rPr>
              <a:t>Rule 4: Point Doubling (P = Q)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0F172A"/>
                </a:solidFill>
                <a:latin typeface="Consolas"/>
              </a:rPr>
              <a:t>Tangent Slope λ = x_P + (y_P / x_P)
x_R = λ² + λ + a
y_R = x_P² + (λ + 1)x_R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18  </a:t>
            </a:r>
            <a:r>
              <a:rPr sz="2400" b="1">
                <a:solidFill>
                  <a:srgbClr val="0F172A"/>
                </a:solidFill>
                <a:latin typeface="Outfit"/>
              </a:rPr>
              <a:t>Master Comparison — Z_p vs. GF(2^m)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Side-by-side feature and formula matrix (Stallings Table 10.1 &amp; 10.2)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4114800"/>
                <a:gridCol w="4114800"/>
              </a:tblGrid>
              <a:tr h="49377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Feature / Property</a:t>
                      </a:r>
                    </a:p>
                  </a:txBody>
                  <a:tcPr marL="137160" marR="137160" marT="73152" marB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Prime Curves Z_p</a:t>
                      </a:r>
                    </a:p>
                  </a:txBody>
                  <a:tcPr marL="137160" marR="137160" marT="73152" marB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Binary Curves GF(2^m)</a:t>
                      </a:r>
                    </a:p>
                  </a:txBody>
                  <a:tcPr marL="137160" marR="137160" marT="73152" marB="73152" anchor="ctr">
                    <a:solidFill>
                      <a:srgbClr val="0F172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Field Elements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Integers {0, 1, ..., p-1}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Polynomials in {0,1} of degree &lt; m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Curve Equation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y² ≡ x³ + ax + b (mod p)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y² + xy = x³ + ax² + b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Non-Singularity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(4a³ + 27b²) mod p ≠ 0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b ≠ 0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Point Negation -P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(x_P, p - y_P)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(x_P, x_P + y_P)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Addition Slope λ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[(y_Q - y_P)/(x_Q - x_P)] mod p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(y_Q + y_P)/(x_Q + x_P)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Doubling Slope λ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[(3x_P² + a)/(2y_P)] mod p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x_P + (y_P / x_P)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Addition x_R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(λ² - x_P - x_Q) mod p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λ² + λ + x_P + x_Q + a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Doubling x_R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(λ² - 2x_P) mod p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λ² + λ + a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Primary Target</a:t>
                      </a:r>
                    </a:p>
                  </a:txBody>
                  <a:tcPr marL="137160" marR="137160" marT="73152" marB="7315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Software Implementations (CPUs)</a:t>
                      </a:r>
                    </a:p>
                  </a:txBody>
                  <a:tcPr marL="137160" marR="137160" marT="73152" marB="7315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Hardware Logic Gates (ASICs, Smart Cards)</a:t>
                      </a:r>
                    </a:p>
                  </a:txBody>
                  <a:tcPr marL="137160" marR="137160" marT="73152" marB="73152"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wipe dir="r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19  </a:t>
            </a:r>
            <a:r>
              <a:rPr sz="2400" b="1">
                <a:solidFill>
                  <a:srgbClr val="0F172A"/>
                </a:solidFill>
                <a:latin typeface="Outfit"/>
              </a:rPr>
              <a:t>Scalar Multiplication &amp; Double-and-Add Algorithm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Computing kP = P + P + ... + P efficiently in O(log k)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" cy="49377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47091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Outfit"/>
              </a:rPr>
              <a:t>Algorithm Comparison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Naïve Method: </a:t>
            </a:r>
            <a:r>
              <a:rPr sz="1200">
                <a:solidFill>
                  <a:srgbClr val="334155"/>
                </a:solidFill>
                <a:latin typeface="Segoe UI"/>
              </a:rPr>
              <a:t>Add point P to itself (k - 1) times. For 256-bit keys, performing k ≈ 2^{256} point additions is physically impossible!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Double-and-Add Method: </a:t>
            </a:r>
            <a:r>
              <a:rPr sz="1200">
                <a:solidFill>
                  <a:srgbClr val="334155"/>
                </a:solidFill>
                <a:latin typeface="Segoe UI"/>
              </a:rPr>
              <a:t>Scan bits of multiplier k from MSB to LSB. For every bit, double the accumulator. If bit = 1, add P.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Logarithmic Complexity: </a:t>
            </a:r>
            <a:r>
              <a:rPr sz="1200">
                <a:solidFill>
                  <a:srgbClr val="334155"/>
                </a:solidFill>
                <a:latin typeface="Segoe UI"/>
              </a:rPr>
              <a:t>Requires only ~256 point doublings and ~128 point additions (approx. 384 operations total instead of 2^{256}!).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Constant-Time Mitigation: </a:t>
            </a:r>
            <a:r>
              <a:rPr sz="1200">
                <a:solidFill>
                  <a:srgbClr val="334155"/>
                </a:solidFill>
                <a:latin typeface="Segoe UI"/>
              </a:rPr>
              <a:t>Montgomery Ladder execution pattern protects against side-channel timing analysis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109728" cy="4937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36192"/>
            <a:ext cx="4754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059669"/>
                </a:solidFill>
                <a:latin typeface="Outfit"/>
              </a:rPr>
              <a:t>Worked Example: 21P (21 = 10101₂)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2084831"/>
          <a:ext cx="48463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64592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Bit Scanned</a:t>
                      </a:r>
                    </a:p>
                  </a:txBody>
                  <a:tcPr marL="109728" marR="109728" marT="73152" marB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Operation Performed</a:t>
                      </a:r>
                    </a:p>
                  </a:txBody>
                  <a:tcPr marL="109728" marR="109728" marT="73152" marB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Accumulator State</a:t>
                      </a:r>
                    </a:p>
                  </a:txBody>
                  <a:tcPr marL="109728" marR="109728" marT="73152" marB="73152" anchor="ctr"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Bit 1 (MSB)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Initialize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P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Bit 0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Double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2P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Bit 1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Double + Add P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4P + P = 5P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Bit 0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Double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10P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Bit 1 (LSB)</a:t>
                      </a:r>
                    </a:p>
                  </a:txBody>
                  <a:tcPr marL="109728" marR="109728" marT="73152" marB="73152"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Double + Add P</a:t>
                      </a:r>
                    </a:p>
                  </a:txBody>
                  <a:tcPr marL="109728" marR="109728" marT="73152" marB="73152"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20P + P = 21P ✔</a:t>
                      </a:r>
                    </a:p>
                  </a:txBody>
                  <a:tcPr marL="109728" marR="109728" marT="73152" marB="73152" anchor="ctr"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530352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1">
                <a:solidFill>
                  <a:srgbClr val="059669"/>
                </a:solidFill>
                <a:latin typeface="Segoe UI"/>
              </a:rPr>
              <a:t>Efficiency: Only 4 Doublings + 2 Additions (6 total operations) instead of 20 additions! Yields a 70% computational savings.</a:t>
            </a:r>
          </a:p>
        </p:txBody>
      </p:sp>
    </p:spTree>
  </p:cSld>
  <p:clrMapOvr>
    <a:masterClrMapping/>
  </p:clrMapOvr>
  <p:transition spd="fast">
    <p:push dir="r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20  </a:t>
            </a:r>
            <a:r>
              <a:rPr sz="2400" b="1">
                <a:solidFill>
                  <a:srgbClr val="0F172A"/>
                </a:solidFill>
                <a:latin typeface="Outfit"/>
              </a:rPr>
              <a:t>Summary &amp; Conclusion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Key Takeaways from Chapter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Segoe UI"/>
              </a:rPr>
              <a:t>Elliptic Curve Arithmetic  |  Presented by: Guru Prakash A (II-MCA, Reg No: 25322011)  |  William Stallings Ch.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1005840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✔  1. Unrivaled Efficiency: </a:t>
            </a:r>
            <a:r>
              <a:rPr sz="1250">
                <a:solidFill>
                  <a:srgbClr val="0F172A"/>
                </a:solidFill>
                <a:latin typeface="Segoe UI"/>
              </a:rPr>
              <a:t>ECC achieves 128-bit commercial security with just 256 bits compared to 3072 bits in RSA (12× smaller key size).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✔  2. Rigorous Group Theory: </a:t>
            </a:r>
            <a:r>
              <a:rPr sz="1250">
                <a:solidFill>
                  <a:srgbClr val="0F172A"/>
                </a:solidFill>
                <a:latin typeface="Segoe UI"/>
              </a:rPr>
              <a:t>Point addition forms an Abelian group satisfying Closure, Associativity, Identity (O), Inverse (-P), and Commutativity.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✔  3. Dual Finite Field Architectures: </a:t>
            </a:r>
            <a:r>
              <a:rPr sz="1250">
                <a:solidFill>
                  <a:srgbClr val="0F172A"/>
                </a:solidFill>
                <a:latin typeface="Segoe UI"/>
              </a:rPr>
              <a:t>Prime curves over Z_p target software ALUs on general CPUs; Binary curves over GF(2^m) target logic gates in ASICs &amp; smart cards.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✔  4. Precise Discrete Formulas: </a:t>
            </a:r>
            <a:r>
              <a:rPr sz="1250">
                <a:solidFill>
                  <a:srgbClr val="0F172A"/>
                </a:solidFill>
                <a:latin typeface="Segoe UI"/>
              </a:rPr>
              <a:t>Slope and coordinate formulas for secant addition and tangent doubling eliminate all floating-point rounding errors.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✔  5. The ECDLP Trapdoor: </a:t>
            </a:r>
            <a:r>
              <a:rPr sz="1250">
                <a:solidFill>
                  <a:srgbClr val="0F172A"/>
                </a:solidFill>
                <a:latin typeface="Segoe UI"/>
              </a:rPr>
              <a:t>Scalar multiplication Q = kP is efficiently computed in O(log k) steps via Double-and-Add, while computing k given Q and P is intractable.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✔  6. The Gold Standard for Modern Cryptography: </a:t>
            </a:r>
            <a:r>
              <a:rPr sz="1250">
                <a:solidFill>
                  <a:srgbClr val="0F172A"/>
                </a:solidFill>
                <a:latin typeface="Segoe UI"/>
              </a:rPr>
              <a:t>Absence of sub-exponential index calculus algorithms ensures ECC remains the cornerstone of modern network protocols (TLS 1.3, SSH, IPsec).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5486400"/>
            <a:ext cx="6705295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5532120"/>
            <a:ext cx="6309360" cy="868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563EB"/>
                </a:solidFill>
                <a:latin typeface="Outfit"/>
              </a:rPr>
              <a:t>Thank You! Questions &amp; Discussion</a:t>
            </a:r>
          </a:p>
          <a:p>
            <a:pPr algn="ctr"/>
            <a:r>
              <a:rPr sz="1100" b="1">
                <a:solidFill>
                  <a:srgbClr val="64748B"/>
                </a:solidFill>
                <a:latin typeface="Segoe UI"/>
              </a:rPr>
              <a:t>Reference: Cryptography and Network Security — William Stallings (Chapter 10)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